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658368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000"/>
              </a:spcAft>
              <a:defRPr sz="1000" b="1">
                <a:solidFill>
                  <a:srgbClr val="38BDF8"/>
                </a:solidFill>
              </a:defRPr>
            </a:pPr>
            <a:r>
              <a:t>ACADEMIC VIVA &amp; EVALUATION PRESENTATION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NUMERIX LAB</a:t>
            </a:r>
          </a:p>
          <a:p>
            <a:pPr>
              <a:spcAft>
                <a:spcPts val="1600"/>
              </a:spcAft>
              <a:defRPr sz="1600" i="1">
                <a:solidFill>
                  <a:srgbClr val="34D399"/>
                </a:solidFill>
              </a:defRPr>
            </a:pPr>
            <a:r>
              <a:t>“Numerical Methods, Visualized.”</a:t>
            </a:r>
          </a:p>
          <a:p>
            <a:pPr>
              <a:spcAft>
                <a:spcPts val="2000"/>
              </a:spcAft>
              <a:defRPr sz="1150">
                <a:solidFill>
                  <a:srgbClr val="94A3B8"/>
                </a:solidFill>
              </a:defRPr>
            </a:pPr>
            <a:r>
              <a:t>A production-grade scientific computational platform transforming abstract numerical algorithms into deterministic, real-time visual simulations.</a:t>
            </a:r>
          </a:p>
          <a:p>
            <a:pPr>
              <a:spcAft>
                <a:spcPts val="600"/>
              </a:spcAft>
              <a:defRPr sz="1000" b="1">
                <a:solidFill>
                  <a:srgbClr val="F8FAFC"/>
                </a:solidFill>
              </a:defRPr>
            </a:pPr>
            <a:r>
              <a:t>CORE ALGORITHMIC IMPLEMENTATIONS: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  ▶  THERMALX: 2D Heat Equation, 5-point Finite Differences, Jacobi &amp; Gauss-Seidel Solvers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  ▶  LINKRANK: Spectral Graph Theory, Markov Chains, PageRank Power Iteration (λ₁ = 1.0)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  ▶  NUMERICAL LAB: Bisection, Newton-Raphson, and Analytical Characteristic Polynomials</a:t>
            </a:r>
          </a:p>
          <a:p>
            <a:br/>
            <a:pPr>
              <a:defRPr sz="950" b="1">
                <a:solidFill>
                  <a:srgbClr val="38BDF8"/>
                </a:solidFill>
              </a:defRPr>
            </a:pPr>
            <a:r>
              <a:t>Live Deployment: https://greatrocktiger-byte.github.io/numerix-lab/</a:t>
            </a:r>
          </a:p>
        </p:txBody>
      </p:sp>
      <p:pic>
        <p:nvPicPr>
          <p:cNvPr id="4" name="Picture 3" descr="ui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097280"/>
            <a:ext cx="3959352" cy="4937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NUMERIX LAB: Numerical Methods, Visualized   •   Live URL: https://greatrocktiger-byte.github.io/numerix-lab/   •   Slide 1 of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02  |  INTRODUCTION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Bridging the Gap: Abstract Mathematics vs Visual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Why traditional numerical methods education struggles, and how Numerix Lab creates intuitive, verifiable learning.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1200"/>
              </a:spcAft>
              <a:defRPr sz="1200" b="1">
                <a:solidFill>
                  <a:srgbClr val="F43F5E"/>
                </a:solidFill>
              </a:defRPr>
            </a:pPr>
            <a:r>
              <a:t>1. THE PEDAGOGICAL PROBLEM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• Black-Box Code: Students execute canned scripts without visual feedback of intermediate convergence steps.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• Spatial Disconnect: Equations like ∇²T = 0 or Ax = λx remain abstract matrix symbols disconnected from physical heat diffusion or network graphs.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• Mocked Demonstrations: Typical web demos rely on pre-baked fake CSS animations rather than live computational state updates.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1200"/>
              </a:spcAft>
              <a:defRPr sz="1200" b="1">
                <a:solidFill>
                  <a:srgbClr val="38BDF8"/>
                </a:solidFill>
              </a:defRPr>
            </a:pPr>
            <a:r>
              <a:t>2. THE NUMERIX SOLUTION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• Live Computational States: Every frame rendered directly reflects real memory grid iterations: T⁽ᵏ⁾ → T⁽ᵏ⁺¹⁾.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• 100% Deterministic Math: No mocked values. Temperature fields, residual errors, and eigenvectors are calculated in real time.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• Interactive Parameter Tuning: Users adjust source temperatures, cooling intensity, damping factors, and observe immediate behavioral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spcAft>
                <a:spcPts val="1200"/>
              </a:spcAft>
              <a:defRPr sz="1200" b="1">
                <a:solidFill>
                  <a:srgbClr val="34D399"/>
                </a:solidFill>
              </a:defRPr>
            </a:pPr>
            <a:r>
              <a:t>3. ACADEMIC VIVA PURPOSE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• Rigorous Viva Defense: Engineered specifically for university viva demonstrations, enabling examiners to test edge cases live.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• Method Comparison: Side-by-side execution of Jacobi vs Gauss-Seidel on identical initial conditions to confirm theoretical convergence rates.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• Mathematical Transparency: 'Show the Math' overlays expose equations, stencil mechanics, and error tolerances at every stage.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NUMERIX LAB: Numerical Methods, Visualized   •   Live URL: https://greatrocktiger-byte.github.io/numerix-lab/   •   Slide 2 of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03  |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Three Autonomous Computational Engines Under One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NUMERIX LAB operates as a modular, zero-dependency computational simulation suite.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29260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THERMALX ENGINE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2D Thermal Field PDE Solver</a:t>
            </a:r>
          </a:p>
          <a:p>
            <a:pPr>
              <a:spcAft>
                <a:spcPts val="400"/>
              </a:spcAft>
              <a:defRPr sz="900">
                <a:solidFill>
                  <a:srgbClr val="F8FAFC"/>
                </a:solidFill>
              </a:defRPr>
            </a:pPr>
            <a:r>
              <a:t>• Governing PDE: Steady-state 2D Poisson Heat Equation ∇²T = -q/k</a:t>
            </a:r>
          </a:p>
          <a:p>
            <a:pPr>
              <a:spcAft>
                <a:spcPts val="400"/>
              </a:spcAft>
              <a:defRPr sz="900">
                <a:solidFill>
                  <a:srgbClr val="F8FAFC"/>
                </a:solidFill>
              </a:defRPr>
            </a:pPr>
            <a:r>
              <a:t>• Discretization: 5-point central finite-difference spatial stencil</a:t>
            </a:r>
          </a:p>
          <a:p>
            <a:pPr>
              <a:spcAft>
                <a:spcPts val="400"/>
              </a:spcAft>
              <a:defRPr sz="900">
                <a:solidFill>
                  <a:srgbClr val="F8FAFC"/>
                </a:solidFill>
              </a:defRPr>
            </a:pPr>
            <a:r>
              <a:t>• Solvers: Simultaneous Jacobi &amp; in-place Gauss-Seidel comparisons</a:t>
            </a:r>
          </a:p>
          <a:p>
            <a:pPr>
              <a:spcAft>
                <a:spcPts val="400"/>
              </a:spcAft>
              <a:defRPr sz="900">
                <a:solidFill>
                  <a:srgbClr val="F8FAFC"/>
                </a:solidFill>
              </a:defRPr>
            </a:pPr>
            <a:r>
              <a:t>• Features: Laptop chassis thermal model, hotspot detection &amp; cooling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74720" cy="29260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>
              <a:defRPr sz="1200" b="1">
                <a:solidFill>
                  <a:srgbClr val="A855F7"/>
                </a:solidFill>
              </a:defRPr>
            </a:pPr>
            <a:r>
              <a:t>LINKRANK ENGINE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Spectral Graph Theory &amp; PageRank</a:t>
            </a:r>
          </a:p>
          <a:p>
            <a:pPr>
              <a:spcAft>
                <a:spcPts val="400"/>
              </a:spcAft>
              <a:defRPr sz="900">
                <a:solidFill>
                  <a:srgbClr val="F8FAFC"/>
                </a:solidFill>
              </a:defRPr>
            </a:pPr>
            <a:r>
              <a:t>• Graph Modeling: Directed networks with column-stochastic transition matrix M</a:t>
            </a:r>
          </a:p>
          <a:p>
            <a:pPr>
              <a:spcAft>
                <a:spcPts val="400"/>
              </a:spcAft>
              <a:defRPr sz="900">
                <a:solidFill>
                  <a:srgbClr val="F8FAFC"/>
                </a:solidFill>
              </a:defRPr>
            </a:pPr>
            <a:r>
              <a:t>• Stationary Distribution: Google matrix with random surfer damping (α = 0.85)</a:t>
            </a:r>
          </a:p>
          <a:p>
            <a:pPr>
              <a:spcAft>
                <a:spcPts val="400"/>
              </a:spcAft>
              <a:defRPr sz="900">
                <a:solidFill>
                  <a:srgbClr val="F8FAFC"/>
                </a:solidFill>
              </a:defRPr>
            </a:pPr>
            <a:r>
              <a:t>• Eigen-Solver: Power Iteration method for principal eigenvector (λ₁ = 1.0)</a:t>
            </a:r>
          </a:p>
          <a:p>
            <a:pPr>
              <a:spcAft>
                <a:spcPts val="400"/>
              </a:spcAft>
              <a:defRPr sz="900">
                <a:solidFill>
                  <a:srgbClr val="F8FAFC"/>
                </a:solidFill>
              </a:defRPr>
            </a:pPr>
            <a:r>
              <a:t>• Features: Real-time dynamic graph topology editor &amp; random walk visualizer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74720" cy="29260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NUMERICAL LAB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Interactive Classical Numerical Solvers</a:t>
            </a:r>
          </a:p>
          <a:p>
            <a:pPr>
              <a:spcAft>
                <a:spcPts val="400"/>
              </a:spcAft>
              <a:defRPr sz="900">
                <a:solidFill>
                  <a:srgbClr val="F8FAFC"/>
                </a:solidFill>
              </a:defRPr>
            </a:pPr>
            <a:r>
              <a:t>• Root Finding: Bisection (linear O(1/2ⁿ)) vs Newton-Raphson (quadratic O(ε²))</a:t>
            </a:r>
          </a:p>
          <a:p>
            <a:pPr>
              <a:spcAft>
                <a:spcPts val="400"/>
              </a:spcAft>
              <a:defRPr sz="900">
                <a:solidFill>
                  <a:srgbClr val="F8FAFC"/>
                </a:solidFill>
              </a:defRPr>
            </a:pPr>
            <a:r>
              <a:t>• Spectral Decomposition: 2x2 &amp; 3x3 characteristic polynomial solvers det(A - λI)=0</a:t>
            </a:r>
          </a:p>
          <a:p>
            <a:pPr>
              <a:spcAft>
                <a:spcPts val="400"/>
              </a:spcAft>
              <a:defRPr sz="900">
                <a:solidFill>
                  <a:srgbClr val="F8FAFC"/>
                </a:solidFill>
              </a:defRPr>
            </a:pPr>
            <a:r>
              <a:t>• Linear Systems: 3-variable Jacobi &amp; Gauss-Seidel convergence comparison</a:t>
            </a:r>
          </a:p>
          <a:p>
            <a:pPr>
              <a:spcAft>
                <a:spcPts val="400"/>
              </a:spcAft>
              <a:defRPr sz="900">
                <a:solidFill>
                  <a:srgbClr val="F8FAFC"/>
                </a:solidFill>
              </a:defRPr>
            </a:pPr>
            <a:r>
              <a:t>• Features: Step-by-step iteration logs, invariant checks (Tr(A), det(A))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38BDF8"/>
                </a:solidFill>
              </a:defRPr>
            </a:pPr>
            <a:r>
              <a:t>COMPUTATIONAL PIPELINE &amp; ZERO-DEPENDENCY CLIENT-SIDE EXECUTION</a:t>
            </a:r>
          </a:p>
          <a:p>
            <a:pPr>
              <a:defRPr sz="950" b="1">
                <a:solidFill>
                  <a:srgbClr val="34D399"/>
                </a:solidFill>
              </a:defRPr>
            </a:pPr>
            <a:r>
              <a:t>1. Parameter Input (Chassis/Graph/Coefficients)   ➔   2. Mathematical Discretization (Grid / Adjacency)   ➔   3. Iterative Solver Sweep (Jacobi / GS / Power)   ➔   4. Norm Error Check (||x^(k+1) - x^(k)|| &lt; tol)   ➔   5. Canvas / SVG Live Shader Interpolation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Architecture Advantage: 100% native JavaScript mathematics engine running client-side with zero server latency, instant recalculation, and cross-platform browser support.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NUMERIX LAB: Numerical Methods, Visualized   •   Live URL: https://greatrocktiger-byte.github.io/numerix-lab/   •   Slide 3 of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04  |  THERMALX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2D Steady-State Heat Equation &amp; 5-Point Laplacian Discretization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Formulating the physical thermal diffusion field into a solvable linear algebraic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85216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MATHEMATICAL FORMULATION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Governing Physical Law: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Steady-state 2D heat conduction with internal heat generation q(x, y):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Poisson Equation:</a:t>
            </a:r>
          </a:p>
          <a:p>
            <a:pPr>
              <a:spcAft>
                <a:spcPts val="400"/>
              </a:spcAft>
              <a:defRPr sz="900">
                <a:solidFill>
                  <a:srgbClr val="38BDF8"/>
                </a:solidFill>
              </a:defRPr>
            </a:pPr>
            <a:r>
              <a:t>   ∇²T = ∂²T/∂x² + ∂²T/∂y² = -q(x, y) / k   (k = thermal conductivity)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Laplace Equation (Source-free):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∇²T = 0   (in regions without active silicon chips)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Finite Difference Discretization: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Applying Taylor series central differences (Δx = Δy = h):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Spatial Derivative: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∂²T/∂x² ≈ [T(i+1, j) - 2T(i, j) + T(i-1, j)] / h²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5-Point Laplacian Stencil Update Equation:</a:t>
            </a:r>
          </a:p>
          <a:p>
            <a:pPr>
              <a:spcAft>
                <a:spcPts val="400"/>
              </a:spcAft>
              <a:defRPr sz="900">
                <a:solidFill>
                  <a:srgbClr val="38BDF8"/>
                </a:solidFill>
              </a:defRPr>
            </a:pPr>
            <a:r>
              <a:t>   T(i, j)⁽ᵏ⁺¹⁾ = ¼ [ T(i+1, j) + T(i-1, j) + T(i, j+1) + T(i, j-1) ] + (q_ij · h²) / (4k)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Boundary Conditions: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 • Dirichlet BC: Fixed wall temperatures T(boundary) = T_ambient</a:t>
            </a:r>
            <a:br/>
            <a:r>
              <a:t>• Neumann BC: Insulated chassis boundaries ∂T/∂n = 0</a:t>
            </a:r>
          </a:p>
        </p:txBody>
      </p:sp>
      <p:pic>
        <p:nvPicPr>
          <p:cNvPr id="7" name="Picture 6" descr="diagram_stenc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0" y="5029200"/>
            <a:ext cx="457200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PHYSICAL INTERPRETATION OF 5-POINT STENCIL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Each interior cell's temperature at equilibrium is precisely the arithmetic mean of its 4 orthogonal neighboring cells, perturbed by local heat source generation.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NUMERIX LAB: Numerical Methods, Visualized   •   Live URL: https://greatrocktiger-byte.github.io/numerix-lab/   •   Slide 4 of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05  |  THERMALX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Iterative Solvers: Jacobi vs. Gauss-Seidel Convergence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Rigorous mathematical comparison of memory access, spectral radius, and convergence speeds.</a:t>
            </a:r>
          </a:p>
        </p:txBody>
      </p:sp>
      <p:pic>
        <p:nvPicPr>
          <p:cNvPr id="6" name="Picture 5" descr="chart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37490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486400"/>
            <a:ext cx="530352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KEY THEORETICAL THEOREM (Laplace Grid)</a:t>
            </a:r>
          </a:p>
          <a:p>
            <a:pPr>
              <a:defRPr sz="850" b="1">
                <a:solidFill>
                  <a:srgbClr val="F8FAFC"/>
                </a:solidFill>
              </a:defRPr>
            </a:pPr>
            <a:r>
              <a:t>ρ(G_GS) = [ρ(G_Jacobi)]² &lt; ρ(G_Jacobi) &lt; 1  ⟹  Gauss-Seidel requires exactly half the iterations of Jacobi to achieve identical error tolerance!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ALGORITHMIC COMPARISON</a:t>
            </a:r>
          </a:p>
          <a:p>
            <a:pPr>
              <a:defRPr sz="1050" b="1">
                <a:solidFill>
                  <a:srgbClr val="38BDF8"/>
                </a:solidFill>
              </a:defRPr>
            </a:pPr>
            <a:r>
              <a:t>1. JACOBI METHOD (Simultaneous Relaxation)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• Update: T_ij⁽ᵏ⁺¹⁾ uses values strictly from prior iteration (k).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• Equation: T_ij⁽ᵏ⁺¹⁾ = ¼ [ T_{i+1,j}⁽ᵏ⁾ + T_{i-1,j}⁽ᵏ⁾ + T_{i,j+1}⁽ᵏ⁾ + T_{i,j-1}⁽ᵏ⁾ ]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• Memory: Requires 2 separate full grids in memory (Old Grid &amp; New Grid).</a:t>
            </a:r>
          </a:p>
          <a:p>
            <a:pPr>
              <a:spcAft>
                <a:spcPts val="800"/>
              </a:spcAft>
              <a:defRPr sz="850">
                <a:solidFill>
                  <a:srgbClr val="94A3B8"/>
                </a:solidFill>
              </a:defRPr>
            </a:pPr>
            <a:r>
              <a:t>  • Parallelism: Embarrassingly parallel (cells can be computed concurrently).</a:t>
            </a:r>
          </a:p>
          <a:p>
            <a:pPr>
              <a:defRPr sz="1050" b="1">
                <a:solidFill>
                  <a:srgbClr val="34D399"/>
                </a:solidFill>
              </a:defRPr>
            </a:pPr>
            <a:r>
              <a:t>2. GAUSS-SEIDEL METHOD (Successive Relaxation)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• Update: Immediately reuses newly computed values within the current sweep.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• Equation: T_ij⁽ᵏ⁺¹⁾ = ¼ [ T_{i+1,j}⁽ᵏ⁾ + T_{i-1,j}⁽ᵏ⁺¹⁾ + T_{i,j+1}⁽ᵏ⁾ + T_{i,j-1}⁽ᵏ⁺¹⁾ ]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• Memory: In-place array mutation (1 single grid buffer, 50% memory saving).</a:t>
            </a:r>
          </a:p>
          <a:p>
            <a:pPr>
              <a:spcAft>
                <a:spcPts val="800"/>
              </a:spcAft>
              <a:defRPr sz="850">
                <a:solidFill>
                  <a:srgbClr val="94A3B8"/>
                </a:solidFill>
              </a:defRPr>
            </a:pPr>
            <a:r>
              <a:t>  • Convergence: Faster error decay because newly propagated heat updates propagate across the grid in the same iteration.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3. CONVERGENCE STOPPING CRITERION (L∞ Residue)</a:t>
            </a:r>
          </a:p>
          <a:p>
            <a:pPr>
              <a:defRPr sz="850">
                <a:solidFill>
                  <a:srgbClr val="38BDF8"/>
                </a:solidFill>
              </a:defRPr>
            </a:pPr>
            <a:r>
              <a:t>  • ||T⁽ᵏ⁺¹⁾ - T⁽ᵏ⁾||_∞ = max |T_ij⁽ᵏ⁺¹⁾ - T_ij⁽ᵏ⁾| &lt; Tolerance (e.g. 10⁻⁴)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NUMERIX LAB: Numerical Methods, Visualized   •   Live URL: https://greatrocktiger-byte.github.io/numerix-lab/   •   Slide 5 of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06  |  THERMALX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Simulation Results: Hardware Chassis Modeling &amp;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Translating mathematical convergence into realistic hardware thermal telemetry and hotspot cooling.</a:t>
            </a:r>
          </a:p>
        </p:txBody>
      </p:sp>
      <p:pic>
        <p:nvPicPr>
          <p:cNvPr id="6" name="Picture 5" descr="ui_therma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291840" cy="4480560"/>
          </a:xfrm>
          <a:prstGeom prst="rect">
            <a:avLst/>
          </a:prstGeom>
        </p:spPr>
      </p:pic>
      <p:pic>
        <p:nvPicPr>
          <p:cNvPr id="7" name="Picture 6" descr="ui_thermal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645920"/>
            <a:ext cx="2926080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645920"/>
            <a:ext cx="4144975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150" b="1">
                <a:solidFill>
                  <a:srgbClr val="34D399"/>
                </a:solidFill>
              </a:defRPr>
            </a:pPr>
            <a:r>
              <a:t>HARDWARE SIMULATION TELEMETRY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Simulated Multi-Source Inputs: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CPU Core (85°C), Dedicated GPU (78°C), Battery Pack (42°C), Ambient Chassis Wall (25°C).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Thermal Dissipation: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Heat diffuses from high-energy silicon dies toward aluminum chassis boundaries according to finite difference conduction.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Hotspot Gradient Detection: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Automated spatial gradient analysis identifies critical hotspots exceeding safety limits (&gt;80°C).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Active Cooling Optimization: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Users increase cooling intensity parameter (convection coefficient h_conv) to simulate fan curves and heat pipe conductance.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Deterministic Thermal States: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Color scale interpolates strictly from converged cell values (Blue=25°C → Green=45°C → Orange=70°C → Red=95°C).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NUMERIX LAB: Numerical Methods, Visualized   •   Live URL: https://greatrocktiger-byte.github.io/numerix-lab/   •   Slide 6 of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07  |  LINKRANK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Spectral Graph Theory &amp; The PageRank Random Surfer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Formulating web network authority as a stationary Markov chain eigen-problem.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85216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A855F7"/>
                </a:solidFill>
              </a:defRPr>
            </a:pPr>
            <a:r>
              <a:t>SPECTRAL GRAPH FORMULATION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Graph Representation: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Directed graph G = (V, E) with N nodes. Directed edge j → i indicates endorsement of node i by node j.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Adjacency Matrix A: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A_ij = 1 if edge j → i exists, else 0. Out-degree d_j = ∑_i A_ij.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Column-Stochastic Transition Matrix M: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M_ij = A_ij / d_j  ⟹  Each column sums to 1 (∑_i M_ij = 1).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The Random Surfer Model: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A web user follows hyperlinks with probability α (damping factor = 0.85), and teleports to a random page with probability (1 - α).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The Google Matrix G:</a:t>
            </a:r>
          </a:p>
          <a:p>
            <a:pPr>
              <a:spcAft>
                <a:spcPts val="400"/>
              </a:spcAft>
              <a:defRPr sz="850">
                <a:solidFill>
                  <a:srgbClr val="38BDF8"/>
                </a:solidFill>
              </a:defRPr>
            </a:pPr>
            <a:r>
              <a:t>   G = α M + [(1 - α) / N] E   (where E = e · eᵀ is the all-ones rank-1 matrix)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Perron-Frobenius Theorem:</a:t>
            </a:r>
          </a:p>
          <a:p>
            <a:pPr>
              <a:spcAft>
                <a:spcPts val="400"/>
              </a:spcAft>
              <a:defRPr sz="850">
                <a:solidFill>
                  <a:srgbClr val="38BDF8"/>
                </a:solidFill>
              </a:defRPr>
            </a:pPr>
            <a:r>
              <a:t>   Because G is strictly positive (G_ij &gt; 0) and column-stochastic, its principal eigenvalue is uniquely λ₁ = 1, and the corresponding eigenvector r has strictly positive entries (unique steady-state ranking vector).</a:t>
            </a:r>
          </a:p>
        </p:txBody>
      </p:sp>
      <p:pic>
        <p:nvPicPr>
          <p:cNvPr id="7" name="Picture 6" descr="diagram_page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0" y="5029200"/>
            <a:ext cx="457200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WHY DAMPING FACTOR α = 0.85?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Prevents 'Spider Traps' (cycles absorbing all rank) and 'Dead Ends' (zero out-degree). Guarantees the graph is strongly connected and aperiodic.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NUMERIX LAB: Numerical Methods, Visualized   •   Live URL: https://greatrocktiger-byte.github.io/numerix-lab/   •   Slide 7 of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08  |  LINKRANK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Power Iteration Algorithm for Principal Eigenvector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How iterative matrix-vector multiplications extract the dominant eigenvector corresponding to λ₁ = 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669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34D399"/>
                </a:solidFill>
              </a:defRPr>
            </a:pPr>
            <a:r>
              <a:t>POWER ITERATION ALGORITHM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Step 1: Initialization: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Initialize ranking vector uniformly: r⁽⁰⁾ = [1/N, 1/N, ..., 1/N]ᵀ such that ∑ r_i = 1.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Step 2: Iterative Update: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Compute next rank vector: r⁽ᵏ⁺¹⁾ = α M r⁽ᵏ⁾ + [(1 - α) / N] e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Step 3: Dangling Node Handling: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If a node has out-degree d_j = 0, distribute its mass equally to all nodes.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Step 4: Convergence Criterion: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Stop when L₁ norm change is below tolerance: ||r⁽ᵏ⁺¹⁾ - r⁽ᵏ⁾||₁ &lt; 10⁻⁵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Step 5: Rate of Convergence: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Governed by the ratio of second eigenvalue to first: |λ₂ / λ₁| = α = 0.85.</a:t>
            </a:r>
            <a:br/>
            <a:r>
              <a:t>Error decays exponentially as O(0.85ᵏ), typically converging in 25–40 steps.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645920"/>
            <a:ext cx="4785055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LIVE ITERATION TRACE (4-Node Network)</a:t>
            </a:r>
          </a:p>
          <a:p>
            <a:pPr>
              <a:spcAft>
                <a:spcPts val="300"/>
              </a:spcAft>
              <a:defRPr sz="850" b="1">
                <a:solidFill>
                  <a:srgbClr val="F8FAFC"/>
                </a:solidFill>
              </a:defRPr>
            </a:pPr>
            <a:r>
              <a:t>Iter (k)  | Node A  | Node B  | Node C  | Node D  | Residue ||Δr||</a:t>
            </a:r>
          </a:p>
          <a:p>
            <a:pPr>
              <a:spcAft>
                <a:spcPts val="300"/>
              </a:spcAft>
              <a:defRPr sz="850" b="0">
                <a:solidFill>
                  <a:srgbClr val="94A3B8"/>
                </a:solidFill>
              </a:defRPr>
            </a:pPr>
            <a:r>
              <a:t>k = 0     | 0.2500  | 0.2500  | 0.2500  | 0.2500  | —</a:t>
            </a:r>
          </a:p>
          <a:p>
            <a:pPr>
              <a:spcAft>
                <a:spcPts val="300"/>
              </a:spcAft>
              <a:defRPr sz="850" b="0">
                <a:solidFill>
                  <a:srgbClr val="94A3B8"/>
                </a:solidFill>
              </a:defRPr>
            </a:pPr>
            <a:r>
              <a:t>k = 1     | 0.3562  | 0.3200  | 0.1619  | 0.1619  | 0.2125</a:t>
            </a:r>
          </a:p>
          <a:p>
            <a:pPr>
              <a:spcAft>
                <a:spcPts val="300"/>
              </a:spcAft>
              <a:defRPr sz="850" b="0">
                <a:solidFill>
                  <a:srgbClr val="94A3B8"/>
                </a:solidFill>
              </a:defRPr>
            </a:pPr>
            <a:r>
              <a:t>k = 2     | 0.3751  | 0.3385  | 0.1432  | 0.1432  | 0.0374</a:t>
            </a:r>
          </a:p>
          <a:p>
            <a:pPr>
              <a:spcAft>
                <a:spcPts val="300"/>
              </a:spcAft>
              <a:defRPr sz="850" b="0">
                <a:solidFill>
                  <a:srgbClr val="94A3B8"/>
                </a:solidFill>
              </a:defRPr>
            </a:pPr>
            <a:r>
              <a:t>k = 5     | 0.3838  | 0.3418  | 0.1372  | 0.1372  | 0.0028</a:t>
            </a:r>
          </a:p>
          <a:p>
            <a:pPr>
              <a:spcAft>
                <a:spcPts val="300"/>
              </a:spcAft>
              <a:defRPr sz="850" b="0">
                <a:solidFill>
                  <a:srgbClr val="94A3B8"/>
                </a:solidFill>
              </a:defRPr>
            </a:pPr>
            <a:r>
              <a:t>k = 10    | 0.3841  | 0.3421  | 0.1369  | 0.1369  | 0.00004</a:t>
            </a:r>
          </a:p>
          <a:p>
            <a:pPr>
              <a:spcAft>
                <a:spcPts val="300"/>
              </a:spcAft>
              <a:defRPr sz="850" b="1">
                <a:solidFill>
                  <a:srgbClr val="38BDF8"/>
                </a:solidFill>
              </a:defRPr>
            </a:pPr>
            <a:r>
              <a:t>Final (λ₁) | 38.4%   | 34.2%   | 13.7%   | 13.7%   | CONVERGED ✓</a:t>
            </a:r>
          </a:p>
          <a:p>
            <a:br/>
            <a:pPr>
              <a:defRPr sz="800">
                <a:solidFill>
                  <a:srgbClr val="FBBF24"/>
                </a:solidFill>
              </a:defRPr>
            </a:pPr>
            <a:r>
              <a:t>Examiner Note: Notice how Node A emerges as the top authority not merely because of link quantity, but because Node B (a high-authority node) casts an incoming endorsement edge toward 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NUMERIX LAB: Numerical Methods, Visualized   •   Live URL: https://greatrocktiger-byte.github.io/numerix-lab/   •   Slide 8 of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09  |  LINKRANK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Simulation Results: Interactive Network Topology &amp;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Allowing users to modify graph structure and observe immediate spectral redistribution.</a:t>
            </a:r>
          </a:p>
        </p:txBody>
      </p:sp>
      <p:pic>
        <p:nvPicPr>
          <p:cNvPr id="6" name="Picture 5" descr="ui_linkrank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108960" cy="4480560"/>
          </a:xfrm>
          <a:prstGeom prst="rect">
            <a:avLst/>
          </a:prstGeom>
        </p:spPr>
      </p:pic>
      <p:pic>
        <p:nvPicPr>
          <p:cNvPr id="7" name="Picture 6" descr="ui_linkrank_ed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645920"/>
            <a:ext cx="2926080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645920"/>
            <a:ext cx="4327855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150" b="1">
                <a:solidFill>
                  <a:srgbClr val="A855F7"/>
                </a:solidFill>
              </a:defRPr>
            </a:pPr>
            <a:r>
              <a:t>NETWORK TOPOLOGY INSIGHTS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Dynamic Topology Alteration: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Users add nodes, remove edges, and flip directions live. The transition matrix M dynamically updates and triggers real-time power iteration.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In-Degree vs PageRank Distinction: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Demonstrates why raw link count is misleading: a node with 1 incoming link from a super-hub outranks a node with 4 links from peripheral nodes.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Random Walk Visualization: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A visual token steps through outgoing edges probabilistically, verifying that the empirical visit frequency matches the mathematical stationary vector.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Academic Viva Utility: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Examiners can ask: 'What happens if we disconnect Node 3?' The presenter can sever the link live and watch rank drain away in real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NUMERIX LAB: Numerical Methods, Visualized   •   Live URL: https://greatrocktiger-byte.github.io/numerix-lab/   •   Slide 9 of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10  |  NUMERICAL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Non-Linear Root Finding: Bisection vs. Newton-Raphson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Contrasting guaranteed linear bracketing against rapid quadratic tangent extrapolation.</a:t>
            </a:r>
          </a:p>
        </p:txBody>
      </p:sp>
      <p:pic>
        <p:nvPicPr>
          <p:cNvPr id="6" name="Picture 5" descr="diagram_rootfi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2743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572000"/>
            <a:ext cx="5303520" cy="1554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CONVERGENCE ORDER SUMMARY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Bisection: Linear convergence order p = 1. Error bounds: ε_n = (b - a) / 2ⁿ.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Newton-Raphson: Quadratic convergence order p = 2. Error bounds: ε_{n+1} ≈ C · ε_n².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Rule of Thumb: Newton doubles correct decimal digits every single iteration near root.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THEORETICAL ANALYSIS &amp; TRADE-OFFS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1. BISECTION METHOD (Bracketing)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• Basis: Intermediate Value Theorem (IVT). Requires f(a) · f(b) &lt; 0.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• Update: Interval midpoint c = (a + b) / 2.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• Strength: 100% unconditional guarantee of convergence if f(x) is continuous.</a:t>
            </a:r>
          </a:p>
          <a:p>
            <a:pPr>
              <a:spcAft>
                <a:spcPts val="800"/>
              </a:spcAft>
              <a:defRPr sz="850">
                <a:solidFill>
                  <a:srgbClr val="94A3B8"/>
                </a:solidFill>
              </a:defRPr>
            </a:pPr>
            <a:r>
              <a:t>  • Limitation: Very slow; takes ~20 iterations to gain 6 decimal places of precision.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2. NEWTON-RAPHSON METHOD (Open / Derivative)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• Basis: 1st order Taylor expansion tangent intersection: x_{n+1} = x_n - f(x_n) / f'(x_n).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• Strength: Extremely rapid convergence (typically 4–6 iterations total).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• Failure Modes: Singular derivative (f'(x) ≈ 0 division by zero), cycle oscillation between extrema, and divergence if initial guess x₀ is too far from root.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NUMERIX LAB: Numerical Methods, Visualized   •   Live URL: https://greatrocktiger-byte.github.io/numerix-lab/   •   Slide 10 of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11  |  NUMERICAL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Eigenvalues, Eigenvectors &amp; Characteristic Polynomials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Analytical and numerical spectral decomposition of 2x2 and 3x3 linear transformations.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669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34D399"/>
                </a:solidFill>
              </a:defRPr>
            </a:pPr>
            <a:r>
              <a:t>SPECTRAL THEORY FORMULATION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Fundamental Equation: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A v = λ v  ⟺  (A - λ I) v = 0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Non-Trivial Nullspace Condition: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det(A - λ I) = 0   (Characteristic Equation)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2x2 Characteristic Polynomial:</a:t>
            </a:r>
          </a:p>
          <a:p>
            <a:pPr>
              <a:spcAft>
                <a:spcPts val="400"/>
              </a:spcAft>
              <a:defRPr sz="850">
                <a:solidFill>
                  <a:srgbClr val="38BDF8"/>
                </a:solidFill>
              </a:defRPr>
            </a:pPr>
            <a:r>
              <a:t>   det([[a - λ, b], [c, d - λ]]) = λ² - Tr(A)λ + det(A) = 0</a:t>
            </a:r>
            <a:br/>
            <a:r>
              <a:t>Roots: λ = [ Tr(A) ± √(Tr(A)² - 4 det(A)) ] / 2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Eigenvector Determination: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Substitute each λ into (A - λ I)v = 0 and compute basis of the null space.</a:t>
            </a:r>
            <a:br/>
            <a:r>
              <a:t>Normalize to unit Euclidean norm: ||v||₂ = 1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Algebraic Invariants Verified Live:</a:t>
            </a:r>
          </a:p>
          <a:p>
            <a:pPr>
              <a:spcAft>
                <a:spcPts val="400"/>
              </a:spcAft>
              <a:defRPr sz="850">
                <a:solidFill>
                  <a:srgbClr val="38BDF8"/>
                </a:solidFill>
              </a:defRPr>
            </a:pPr>
            <a:r>
              <a:t>   • Trace Invariant: ∑ λ_i = Tr(A) = a₁₁ + a₂₂ + ... + aₙₙ</a:t>
            </a:r>
            <a:br/>
            <a:r>
              <a:t>• Determinant Invariant: ∏ λ_i = det(A)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645920"/>
            <a:ext cx="4785055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WORKED VIVA EXAMPLE (Interactive Matrix)</a:t>
            </a:r>
          </a:p>
          <a:p>
            <a:pPr>
              <a:defRPr sz="900" b="1">
                <a:solidFill>
                  <a:srgbClr val="F8FAFC"/>
                </a:solidFill>
              </a:defRPr>
            </a:pPr>
            <a:r>
              <a:t>• Input Matrix A: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</a:defRPr>
            </a:pPr>
            <a:r>
              <a:t>   [[4, 1], [2, 3]]</a:t>
            </a:r>
          </a:p>
          <a:p>
            <a:pPr>
              <a:defRPr sz="900" b="1">
                <a:solidFill>
                  <a:srgbClr val="F8FAFC"/>
                </a:solidFill>
              </a:defRPr>
            </a:pPr>
            <a:r>
              <a:t>• Step 1: Compute Trace &amp; Det: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</a:defRPr>
            </a:pPr>
            <a:r>
              <a:t>   Tr(A) = 4 + 3 = 7</a:t>
            </a:r>
            <a:br/>
            <a:r>
              <a:t>det(A) = (4)(3) - (1)(2) = 12 - 2 = 10</a:t>
            </a:r>
          </a:p>
          <a:p>
            <a:pPr>
              <a:defRPr sz="900" b="1">
                <a:solidFill>
                  <a:srgbClr val="F8FAFC"/>
                </a:solidFill>
              </a:defRPr>
            </a:pPr>
            <a:r>
              <a:t>• Step 2: Characteristic Equation: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</a:defRPr>
            </a:pPr>
            <a:r>
              <a:t>   λ² - 7λ + 10 = 0  ⟹  (λ - 5)(λ - 2) = 0</a:t>
            </a:r>
            <a:br/>
            <a:r>
              <a:t>Eigenvalues: λ₁ = 5,  λ₂ = 2</a:t>
            </a:r>
          </a:p>
          <a:p>
            <a:pPr>
              <a:defRPr sz="900" b="1">
                <a:solidFill>
                  <a:srgbClr val="F8FAFC"/>
                </a:solidFill>
              </a:defRPr>
            </a:pPr>
            <a:r>
              <a:t>• Step 3: Eigenvector for λ₁ = 5: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</a:defRPr>
            </a:pPr>
            <a:r>
              <a:t>   (A - 5I)v = [[-1, 1], [2, -2]] v = 0  ⟹  -v₁ + v₂ = 0  ⟹  v₁ = [1, 1]ᵀ</a:t>
            </a:r>
          </a:p>
          <a:p>
            <a:pPr>
              <a:defRPr sz="900" b="1">
                <a:solidFill>
                  <a:srgbClr val="F8FAFC"/>
                </a:solidFill>
              </a:defRPr>
            </a:pPr>
            <a:r>
              <a:t>• Step 4: Eigenvector for λ₂ = 2: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</a:defRPr>
            </a:pPr>
            <a:r>
              <a:t>   (A - 2I)v = [[2, 1], [2, 1]] v = 0  ⟹  2v₁ + v₂ = 0  ⟹  v₂ = [1, -2]ᵀ</a:t>
            </a:r>
          </a:p>
          <a:p>
            <a:pPr>
              <a:defRPr sz="900" b="1">
                <a:solidFill>
                  <a:srgbClr val="F8FAFC"/>
                </a:solidFill>
              </a:defRPr>
            </a:pPr>
            <a:r>
              <a:t>• Step 5: Invariant Check:</a:t>
            </a:r>
          </a:p>
          <a:p>
            <a:pPr>
              <a:spcAft>
                <a:spcPts val="300"/>
              </a:spcAft>
              <a:defRPr sz="850">
                <a:solidFill>
                  <a:srgbClr val="34D399"/>
                </a:solidFill>
              </a:defRPr>
            </a:pPr>
            <a:r>
              <a:t>   λ₁ + λ₂ = 5 + 2 = 7 = Tr(A) ✓</a:t>
            </a:r>
            <a:br/>
            <a:r>
              <a:t>λ₁ · λ₂ = (5)(2) = 10 = det(A) 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NUMERIX LAB: Numerical Methods, Visualized   •   Live URL: https://greatrocktiger-byte.github.io/numerix-lab/   •   Slide 11 of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12  |  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Master Numerical Methods Comparison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Side-by-side evaluation of all numerical methods implemented in the Numerix Lab platform.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645920"/>
                <a:gridCol w="1645920"/>
                <a:gridCol w="1645920"/>
                <a:gridCol w="1463040"/>
                <a:gridCol w="2407615"/>
              </a:tblGrid>
              <a:tr h="6400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CONVERGENCE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MEMORY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KEY GUARANTEE / CONDITION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Jacobi Iteration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Linear Systems (Ax = b)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Linear (ρ &lt; 1)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O(n²) per step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2n² (Dual grid)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Strict / Irreducible Diagonal Dominance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Gauss-Seidel</a:t>
                      </a:r>
                    </a:p>
                  </a:txBody>
                  <a:tcPr anchor="ctr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Linear Systems (Ax = b)</a:t>
                      </a:r>
                    </a:p>
                  </a:txBody>
                  <a:tcPr anchor="ctr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Linear (ρ_GS = ρ_J²)</a:t>
                      </a:r>
                    </a:p>
                  </a:txBody>
                  <a:tcPr anchor="ctr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O(n²) per step</a:t>
                      </a:r>
                    </a:p>
                  </a:txBody>
                  <a:tcPr anchor="ctr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n² (In-place)</a:t>
                      </a:r>
                    </a:p>
                  </a:txBody>
                  <a:tcPr anchor="ctr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Strict / Irreducible Diagonal Dominance</a:t>
                      </a:r>
                    </a:p>
                  </a:txBody>
                  <a:tcPr anchor="ctr">
                    <a:solidFill>
                      <a:srgbClr val="0D132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PageRank (Power)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Spectral Graphs / Markov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Linear (O(0.85ᵏ))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O(|E|) per step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O(|V|)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Perron-Frobenius (Irreducible, aperiodic)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Bisection Method</a:t>
                      </a:r>
                    </a:p>
                  </a:txBody>
                  <a:tcPr anchor="ctr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Root Finding f(x) = 0</a:t>
                      </a:r>
                    </a:p>
                  </a:txBody>
                  <a:tcPr anchor="ctr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Linear (p = 1)</a:t>
                      </a:r>
                    </a:p>
                  </a:txBody>
                  <a:tcPr anchor="ctr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O(1) eval/step</a:t>
                      </a:r>
                    </a:p>
                  </a:txBody>
                  <a:tcPr anchor="ctr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Intermediate Value Theorem: f(a)·f(b) &lt; 0</a:t>
                      </a:r>
                    </a:p>
                  </a:txBody>
                  <a:tcPr anchor="ctr">
                    <a:solidFill>
                      <a:srgbClr val="0D132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Newton-Raphson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Root Finding f(x) = 0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Quadratic (p = 2)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O(1) f, f' eval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f'(root) ≠ 0 and initial x₀ close to root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Char. Polynomial</a:t>
                      </a:r>
                    </a:p>
                  </a:txBody>
                  <a:tcPr anchor="ctr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Eigen-decomposition</a:t>
                      </a:r>
                    </a:p>
                  </a:txBody>
                  <a:tcPr anchor="ctr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4D399"/>
                          </a:solidFill>
                        </a:defRPr>
                      </a:pPr>
                      <a:r>
                        <a:t>Exact / Closed-form</a:t>
                      </a:r>
                    </a:p>
                  </a:txBody>
                  <a:tcPr anchor="ctr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O(n³) roots</a:t>
                      </a:r>
                    </a:p>
                  </a:txBody>
                  <a:tcPr anchor="ctr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O(n²)</a:t>
                      </a:r>
                    </a:p>
                  </a:txBody>
                  <a:tcPr anchor="ctr"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94A3B8"/>
                          </a:solidFill>
                        </a:defRPr>
                      </a:pPr>
                      <a:r>
                        <a:t>Solvable analytically for n ≤ 4 (Abel-Ruffini)</a:t>
                      </a:r>
                    </a:p>
                  </a:txBody>
                  <a:tcPr anchor="ctr">
                    <a:solidFill>
                      <a:srgbClr val="0D132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NUMERIX LAB: Numerical Methods, Visualized   •   Live URL: https://greatrocktiger-byte.github.io/numerix-lab/   •   Slide 12 of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13  |  ACADEMIC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High-Frequency Examiner Questions &amp; Mathematical Defenses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Essential conceptual questions frequently posed during university project evaluations.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42255" cy="2148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600"/>
              </a:spcAft>
              <a:defRPr sz="1050" b="1">
                <a:solidFill>
                  <a:srgbClr val="0EA5E9"/>
                </a:solidFill>
              </a:defRPr>
            </a:pPr>
            <a:r>
              <a:t>Q1: Why does Gauss-Seidel converge faster than Jacobi?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Mathematical Defense: For discretized Laplace grids, the iteration matrix G_GS has spectral radius exactly equal to [ρ(G_J)]². Because ρ &lt; 1, squaring it strictly decreases the dominant eigenvalue, doubling the asymptotic rate of convergence R_∞ = -ln(ρ). Hence Gauss-Seidel requires ~50% fewer sweeps.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2148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600"/>
              </a:spcAft>
              <a:defRPr sz="1050" b="1">
                <a:solidFill>
                  <a:srgbClr val="10B981"/>
                </a:solidFill>
              </a:defRPr>
            </a:pPr>
            <a:r>
              <a:t>Q2: Under what condition is iterative convergence guaranteed?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Mathematical Defense: By the Gershgorin Circle Theorem and Levy-Desplanques Theorem, convergence is unconditionally guaranteed if matrix A is strictly diagonally dominant (|a_ii| &gt; ∑_{j≠i} |a_ij|) or symmetric positive definite (SPD). Both hold for the 5-point discrete Laplace operator.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42255" cy="2148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600"/>
              </a:spcAft>
              <a:defRPr sz="1050" b="1">
                <a:solidFill>
                  <a:srgbClr val="A855F7"/>
                </a:solidFill>
              </a:defRPr>
            </a:pPr>
            <a:r>
              <a:t>Q3: Why is damping factor α set to 0.85 in PageRank?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Mathematical Defense: Setting α &lt; 1 resolves the Reducible Graph trap. It ensures the transition matrix G has strictly positive entries (G_ij &gt; 0), satisfying the Perron-Frobenius theorem. Furthermore, the second eigenvalue is bounded by |λ₂| ≤ α = 0.85, guaranteeing geometric convergence within ~30 power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42255" cy="2148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600"/>
              </a:spcAft>
              <a:defRPr sz="1050" b="1">
                <a:solidFill>
                  <a:srgbClr val="F59E0B"/>
                </a:solidFill>
              </a:defRPr>
            </a:pPr>
            <a:r>
              <a:t>Q4: When does Newton-Raphson fail, and how is it mitigated?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Mathematical Defense: Newton-Raphson fails if f'(x_n) ≈ 0 (division by zero / infinite tangent projection), if the function has inflection points causing 2-cycle oscillations, or if x₀ is far from root. Mitigation: Hybrid algorithms like Brent's method that fall back to Bisection if a step leaves the bracketing interval.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NUMERIX LAB: Numerical Methods, Visualized   •   Live URL: https://greatrocktiger-byte.github.io/numerix-lab/   •   Slide 13 of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14  |  IMPLEMENTATION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Zero-Dependency Mathematical Architecture &amp; Production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How Numerix Lab achieves instant client-side execution, deterministic rigor, and 24/7 web availability.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  <a:defRPr sz="1150" b="1">
                <a:solidFill>
                  <a:srgbClr val="0EA5E9"/>
                </a:solidFill>
              </a:defRPr>
            </a:pPr>
            <a:r>
              <a:t>1. COMPUTATIONAL PURITY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Zero External Math Libraries: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   No NumPy or SciPy server requirements. All finite difference operators and power iteration loops are hand-coded in high-performance native JavaScript.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Deterministic State Machine: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   Guarantees that identical initial conditions produce bit-exact convergence traces across all browsers.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Examiner Code Audit Ready: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   Clean, modular mathematical functions directly inspectable in browser dev-tools during viva.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28416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  <a:defRPr sz="1150" b="1">
                <a:solidFill>
                  <a:srgbClr val="10B981"/>
                </a:solidFill>
              </a:defRPr>
            </a:pPr>
            <a:r>
              <a:t>2. VISUALIZATION ENGINE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Canvas Heatmap Shaders: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   Dynamic bi-linear spatial interpolation maps grid temperatures to visual colors without taxing CPU cycles.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Interactive SVG Directed Graphs: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   Dynamic edge routing, curved bezier links, and real-time node dragging for network topology analysis.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Responsive Modern Dark UI: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   Designed to cognitive engineering principles: high information density without visual clutter.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28416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  <a:defRPr sz="1150" b="1">
                <a:solidFill>
                  <a:srgbClr val="A855F7"/>
                </a:solidFill>
              </a:defRPr>
            </a:pPr>
            <a:r>
              <a:t>3. CLOUD DEPLOYMENT &amp; CI/CD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Automated GitHub Pages CI/CD: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   Continuous deployment pipeline automatically compiles and deploys code on push to GitHub repository.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100% Client-Side Hosting: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   Zero server maintenance, zero cold-start latency, and offline-capable single-page application structure.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Permanent Public URL: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   Accessible 24/7 on desktop, laptop, tablet, and mobile devices with zero installation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NUMERIX LAB: Numerical Methods, Visualized   •   Live URL: https://greatrocktiger-byte.github.io/numerix-lab/   •   Slide 14 of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15  |  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Conclusion, Deliverables &amp; 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NUMERIX LAB successfully proves that numerical methods can be transformed into intuitive visual experiences.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40080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KEY PROJECT HIGHLIGHTS &amp; DELIVERABLES</a:t>
            </a:r>
          </a:p>
          <a:p>
            <a:pPr>
              <a:defRPr sz="1000" b="1">
                <a:solidFill>
                  <a:srgbClr val="34D399"/>
                </a:solidFill>
              </a:defRPr>
            </a:pPr>
            <a:r>
              <a:t>✔  Bridged Abstract Math &amp; Intuition: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 Transformed complex differential equations and spectral graph theory into interactive, observable simulations.</a:t>
            </a:r>
          </a:p>
          <a:p>
            <a:pPr>
              <a:defRPr sz="1000" b="1">
                <a:solidFill>
                  <a:srgbClr val="34D399"/>
                </a:solidFill>
              </a:defRPr>
            </a:pPr>
            <a:r>
              <a:t>✔  Comprehensive Dual-Flagship Engines: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 Delivered ThermalX (PDE heat conduction) and LinkRank (PageRank power iteration) with 100% mathematical integrity.</a:t>
            </a:r>
          </a:p>
          <a:p>
            <a:pPr>
              <a:defRPr sz="1000" b="1">
                <a:solidFill>
                  <a:srgbClr val="34D399"/>
                </a:solidFill>
              </a:defRPr>
            </a:pPr>
            <a:r>
              <a:t>✔  Extensive Numerical Lab Suite: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 Implemented Bisection, Newton-Raphson, and 2x2/3x3 Characteristic Polynomial solvers with step-by-step trace generation.</a:t>
            </a:r>
          </a:p>
          <a:p>
            <a:pPr>
              <a:defRPr sz="1000" b="1">
                <a:solidFill>
                  <a:srgbClr val="34D399"/>
                </a:solidFill>
              </a:defRPr>
            </a:pPr>
            <a:r>
              <a:t>✔  Live 24/7 Cloud Availability: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 Permanently hosted online with zero setup needed for evaluators, students, and peers.</a:t>
            </a:r>
          </a:p>
          <a:p>
            <a:pPr>
              <a:defRPr sz="1000" b="1">
                <a:solidFill>
                  <a:srgbClr val="34D399"/>
                </a:solidFill>
              </a:defRPr>
            </a:pPr>
            <a:r>
              <a:t>✔  Complete Pedagogical Documentation: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 Accompanied by a 20+ page illustrated viva defense manual and interactive user guide.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645920"/>
            <a:ext cx="4053535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300" b="1">
                <a:solidFill>
                  <a:srgbClr val="34D399"/>
                </a:solidFill>
              </a:defRPr>
            </a:pPr>
            <a:r>
              <a:t>LIVE EVALUATION DEMO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🌐 Live Web App:</a:t>
            </a:r>
          </a:p>
          <a:p>
            <a:pPr>
              <a:spcAft>
                <a:spcPts val="600"/>
              </a:spcAft>
              <a:defRPr sz="850">
                <a:solidFill>
                  <a:srgbClr val="38BDF8"/>
                </a:solidFill>
              </a:defRPr>
            </a:pPr>
            <a:r>
              <a:t>https://greatrocktiger-byte.github.io/numerix-lab/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📖 User &amp; Viva Manual:</a:t>
            </a:r>
          </a:p>
          <a:p>
            <a:pPr>
              <a:spcAft>
                <a:spcPts val="600"/>
              </a:spcAft>
              <a:defRPr sz="850">
                <a:solidFill>
                  <a:srgbClr val="38BDF8"/>
                </a:solidFill>
              </a:defRPr>
            </a:pPr>
            <a:r>
              <a:t>https://greatrocktiger-byte.github.io/numerix-lab/DOCUMENTATION.html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💻 GitHub Repository:</a:t>
            </a:r>
          </a:p>
          <a:p>
            <a:pPr>
              <a:spcAft>
                <a:spcPts val="600"/>
              </a:spcAft>
              <a:defRPr sz="850">
                <a:solidFill>
                  <a:srgbClr val="38BDF8"/>
                </a:solidFill>
              </a:defRPr>
            </a:pPr>
            <a:r>
              <a:t>https://github.com/greatrocktiger-byte/numerix-lab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💡 Suggested Live Demos for Viva: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1. Run Jacobi vs Gauss-Seidel simultaneously on 40x40 grid and verify GS finishes in half the steps.</a:t>
            </a:r>
            <a:br/>
            <a:r>
              <a:t>2. Sever an incoming link to Node A in LinkRank and watch Power Iteration re-balance authority scores live.</a:t>
            </a:r>
            <a:br/>
            <a:r>
              <a:t>3. Test Newton-Raphson with singular derivative f'(x) ≈ 0 to demonstrate numerical failure handling.</a:t>
            </a:r>
          </a:p>
          <a:p>
            <a:br/>
            <a:pPr>
              <a:defRPr sz="950" b="1" i="1">
                <a:solidFill>
                  <a:srgbClr val="FBBF24"/>
                </a:solidFill>
              </a:defRPr>
            </a:pPr>
            <a:r>
              <a:t>Thank you! We welcome any questions and are ready for the live demonstration.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NUMERIX LAB: Numerical Methods, Visualized   •   Live URL: https://greatrocktiger-byte.github.io/numerix-lab/   •   Slide 15 of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